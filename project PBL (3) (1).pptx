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21"/>
  </p:notesMasterIdLst>
  <p:handoutMasterIdLst>
    <p:handoutMasterId r:id="rId22"/>
  </p:handoutMasterIdLst>
  <p:sldIdLst>
    <p:sldId id="261" r:id="rId3"/>
    <p:sldId id="314" r:id="rId4"/>
    <p:sldId id="322" r:id="rId5"/>
    <p:sldId id="323" r:id="rId6"/>
    <p:sldId id="266" r:id="rId7"/>
    <p:sldId id="341" r:id="rId8"/>
    <p:sldId id="342" r:id="rId9"/>
    <p:sldId id="343" r:id="rId10"/>
    <p:sldId id="344" r:id="rId11"/>
    <p:sldId id="345" r:id="rId12"/>
    <p:sldId id="350" r:id="rId13"/>
    <p:sldId id="346" r:id="rId14"/>
    <p:sldId id="351" r:id="rId15"/>
    <p:sldId id="340" r:id="rId16"/>
    <p:sldId id="349" r:id="rId17"/>
    <p:sldId id="347" r:id="rId18"/>
    <p:sldId id="348" r:id="rId19"/>
    <p:sldId id="33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BCDB23-F71F-45AC-95C4-53EA35851854}" v="25" dt="2026-03-04T03:42:43.0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582"/>
    <p:restoredTop sz="95833"/>
  </p:normalViewPr>
  <p:slideViewPr>
    <p:cSldViewPr snapToGrid="0" snapToObjects="1">
      <p:cViewPr varScale="1">
        <p:scale>
          <a:sx n="89" d="100"/>
          <a:sy n="89" d="100"/>
        </p:scale>
        <p:origin x="254" y="72"/>
      </p:cViewPr>
      <p:guideLst/>
    </p:cSldViewPr>
  </p:slideViewPr>
  <p:notesTextViewPr>
    <p:cViewPr>
      <p:scale>
        <a:sx n="1" d="1"/>
        <a:sy n="1" d="1"/>
      </p:scale>
      <p:origin x="0" y="0"/>
    </p:cViewPr>
  </p:notesTextViewPr>
  <p:notesViewPr>
    <p:cSldViewPr snapToGrid="0" snapToObjects="1">
      <p:cViewPr varScale="1">
        <p:scale>
          <a:sx n="51" d="100"/>
          <a:sy n="51" d="100"/>
        </p:scale>
        <p:origin x="3208" y="2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3/10/2026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3BF734CB-DFAB-944A-8037-9643745D8F20}" type="datetime1">
              <a:rPr lang="en-IN" smtClean="0"/>
              <a:t>10-03-2026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6918335F-2E5B-B14E-9706-E237C81E4155}" type="datetime1">
              <a:rPr lang="en-IN" smtClean="0"/>
              <a:t>10-03-2026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15BD6649-7156-A341-B9F2-F045B7551E13}" type="datetime1">
              <a:rPr lang="en-IN" smtClean="0"/>
              <a:t>10-03-2026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C9977CD1-E97C-BA41-8E49-9F39B98FFBE8}" type="datetime1">
              <a:rPr lang="en-IN" smtClean="0"/>
              <a:t>10-03-2026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F3DDBCA1-9406-7A44-8A76-1046B4040777}" type="datetime1">
              <a:rPr lang="en-IN" smtClean="0"/>
              <a:t>10-03-2026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173030211           Department of CSE</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C7FB085D-B69B-9C45-93A5-77F47F2F6792}" type="datetime1">
              <a:rPr lang="en-IN" smtClean="0"/>
              <a:t>10-03-2026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173030211           Department of CSE</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C61B69B7-E8EF-6346-9390-671C5B22ACF3}" type="datetime1">
              <a:rPr lang="en-IN" smtClean="0"/>
              <a:t>10-03-2026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B920709D-BF3C-5743-B60D-B01C16014A7B}" type="datetime1">
              <a:rPr lang="en-IN" smtClean="0"/>
              <a:t>10-03-2026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B04444B0-6575-954F-AAA2-CB0D0417F745}" type="datetime1">
              <a:rPr lang="en-IN" smtClean="0"/>
              <a:t>10-03-2026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6DE7A436-9AA5-6C4B-AFF1-C34F60A9AB89}" type="datetime1">
              <a:rPr lang="en-IN" smtClean="0"/>
              <a:t>10-03-2026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6BF141C7-EF5A-1D4A-89F0-79C7DE818D53}" type="datetime1">
              <a:rPr lang="en-IN" smtClean="0"/>
              <a:t>10-03-2026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8C868A0C-C998-984C-ABE3-A33473D7CABD}" type="datetime1">
              <a:rPr lang="en-IN" smtClean="0"/>
              <a:t>10-03-2026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BDD2EF84-6667-8447-AC88-082F9D71D82C}" type="datetime1">
              <a:rPr lang="en-IN" smtClean="0"/>
              <a:t>10-03-2026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61563FD6-5C64-304A-9680-469E8D83D1BF}" type="datetime1">
              <a:rPr lang="en-IN" smtClean="0"/>
              <a:t>10-03-2026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173030211           Department of CSE</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D93985EC-8C41-0649-B43C-28421C497AA5}" type="datetime1">
              <a:rPr lang="en-IN" smtClean="0"/>
              <a:t>10-03-2026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173030211           Department of CSE</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85D85A-3465-384D-962A-D11BB8B39525}" type="datetime1">
              <a:rPr lang="en-IN" smtClean="0"/>
              <a:t>10-03-2026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F4C6E9-161C-B44B-AD70-8813DADCDED1}" type="datetime1">
              <a:rPr lang="en-IN" smtClean="0"/>
              <a:t>10-03-2026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173030211           Department of CSE</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INSTRUCTIONS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92500" lnSpcReduction="10000"/>
          </a:bodyPr>
          <a:lstStyle/>
          <a:p>
            <a:r>
              <a:rPr lang="en-IN" dirty="0">
                <a:latin typeface="Times New Roman" panose="02020603050405020304" pitchFamily="18" charset="0"/>
                <a:cs typeface="Times New Roman" panose="02020603050405020304" pitchFamily="18" charset="0"/>
              </a:rPr>
              <a:t>Use Font size 22 to 28 and Font Style </a:t>
            </a:r>
            <a:r>
              <a:rPr lang="en-IN" b="0" i="0" dirty="0">
                <a:solidFill>
                  <a:srgbClr val="0A0A0A"/>
                </a:solidFill>
                <a:effectLst/>
                <a:latin typeface="Times New Roman" panose="02020603050405020304" pitchFamily="18" charset="0"/>
                <a:cs typeface="Times New Roman" panose="02020603050405020304" pitchFamily="18" charset="0"/>
              </a:rPr>
              <a:t>Times New Roman </a:t>
            </a:r>
            <a:r>
              <a:rPr lang="en-IN" dirty="0">
                <a:latin typeface="Times New Roman" panose="02020603050405020304" pitchFamily="18" charset="0"/>
                <a:cs typeface="Times New Roman" panose="02020603050405020304" pitchFamily="18" charset="0"/>
              </a:rPr>
              <a:t>(body)</a:t>
            </a:r>
          </a:p>
          <a:p>
            <a:r>
              <a:rPr lang="en-IN" dirty="0">
                <a:latin typeface="Times New Roman" panose="02020603050405020304" pitchFamily="18" charset="0"/>
                <a:cs typeface="Times New Roman" panose="02020603050405020304" pitchFamily="18" charset="0"/>
              </a:rPr>
              <a:t>Do not change the Template: Heading / Title of the slides</a:t>
            </a:r>
          </a:p>
          <a:p>
            <a:r>
              <a:rPr lang="en-IN" dirty="0">
                <a:latin typeface="Times New Roman" panose="02020603050405020304" pitchFamily="18" charset="0"/>
                <a:cs typeface="Times New Roman" panose="02020603050405020304" pitchFamily="18" charset="0"/>
              </a:rPr>
              <a:t>Do not change font style or colours</a:t>
            </a:r>
          </a:p>
          <a:p>
            <a:r>
              <a:rPr lang="en-IN" dirty="0">
                <a:latin typeface="Times New Roman" panose="02020603050405020304" pitchFamily="18" charset="0"/>
                <a:cs typeface="Times New Roman" panose="02020603050405020304" pitchFamily="18" charset="0"/>
              </a:rPr>
              <a:t>Do not copy paste paragraphs: use only Bullet Points</a:t>
            </a:r>
          </a:p>
          <a:p>
            <a:r>
              <a:rPr lang="en-IN" dirty="0">
                <a:latin typeface="Times New Roman" panose="02020603050405020304" pitchFamily="18" charset="0"/>
                <a:cs typeface="Times New Roman" panose="02020603050405020304" pitchFamily="18" charset="0"/>
              </a:rPr>
              <a:t>Maximum slide Limit is 20 only</a:t>
            </a:r>
          </a:p>
          <a:p>
            <a:r>
              <a:rPr lang="en-IN" dirty="0">
                <a:latin typeface="Times New Roman" panose="02020603050405020304" pitchFamily="18" charset="0"/>
                <a:cs typeface="Times New Roman" panose="02020603050405020304" pitchFamily="18" charset="0"/>
              </a:rPr>
              <a:t>As per the number of supervisor allotted adopt slide-2 or slide-3</a:t>
            </a:r>
          </a:p>
          <a:p>
            <a:r>
              <a:rPr lang="en-IN" dirty="0">
                <a:latin typeface="Times New Roman" panose="02020603050405020304" pitchFamily="18" charset="0"/>
                <a:cs typeface="Times New Roman" panose="02020603050405020304" pitchFamily="18" charset="0"/>
              </a:rPr>
              <a:t>Please display the required meaningful Content or images or tables </a:t>
            </a:r>
          </a:p>
          <a:p>
            <a:r>
              <a:rPr lang="en-IN" dirty="0">
                <a:latin typeface="Times New Roman" panose="02020603050405020304" pitchFamily="18" charset="0"/>
                <a:cs typeface="Times New Roman" panose="02020603050405020304" pitchFamily="18" charset="0"/>
              </a:rPr>
              <a:t>Change the footer accordingly using insert tab then click on header &amp; footer tab and edit it</a:t>
            </a:r>
          </a:p>
          <a:p>
            <a:r>
              <a:rPr lang="en-IN" dirty="0">
                <a:latin typeface="Times New Roman" panose="02020603050405020304" pitchFamily="18" charset="0"/>
                <a:cs typeface="Times New Roman" panose="02020603050405020304" pitchFamily="18" charset="0"/>
              </a:rPr>
              <a:t>Save the PPT with Register No, Dept and Review no,  example: </a:t>
            </a:r>
            <a:r>
              <a:rPr lang="en-US" dirty="0">
                <a:latin typeface="Times New Roman" panose="02020603050405020304" pitchFamily="18" charset="0"/>
                <a:cs typeface="Times New Roman" panose="02020603050405020304" pitchFamily="18" charset="0"/>
              </a:rPr>
              <a:t>23xxxxxxxxx_CSE</a:t>
            </a: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9ADE338F-74DD-D142-8C58-9E4C5E66F6E8}"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a:t>
            </a:fld>
            <a:endParaRPr lang="en-US"/>
          </a:p>
        </p:txBody>
      </p:sp>
    </p:spTree>
    <p:extLst>
      <p:ext uri="{BB962C8B-B14F-4D97-AF65-F5344CB8AC3E}">
        <p14:creationId xmlns:p14="http://schemas.microsoft.com/office/powerpoint/2010/main" val="2851391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494057" y="136525"/>
            <a:ext cx="11543614" cy="1128381"/>
          </a:xfrm>
        </p:spPr>
        <p:txBody>
          <a:bodyPr>
            <a:noAutofit/>
          </a:bodyPr>
          <a:lstStyle/>
          <a:p>
            <a:pPr algn="ctr">
              <a:lnSpc>
                <a:spcPct val="100000"/>
              </a:lnSpc>
            </a:pPr>
            <a:r>
              <a:rPr lang="en-US" sz="2400" dirty="0" err="1">
                <a:solidFill>
                  <a:srgbClr val="0070C0"/>
                </a:solidFill>
                <a:latin typeface="Times New Roman" panose="02020603050405020304" pitchFamily="18" charset="0"/>
                <a:cs typeface="Times New Roman" panose="02020603050405020304" pitchFamily="18" charset="0"/>
              </a:rPr>
              <a:t>Title:CAREERS</a:t>
            </a:r>
            <a:r>
              <a:rPr lang="en-US" sz="2400" dirty="0">
                <a:solidFill>
                  <a:srgbClr val="0070C0"/>
                </a:solidFill>
                <a:latin typeface="Times New Roman" panose="02020603050405020304" pitchFamily="18" charset="0"/>
                <a:cs typeface="Times New Roman" panose="02020603050405020304" pitchFamily="18" charset="0"/>
              </a:rPr>
              <a:t> BUILT ON SMART CONNECTIONS</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AEAE0CE-45A1-A1FF-31F4-66CECAEF3059}"/>
              </a:ext>
            </a:extLst>
          </p:cNvPr>
          <p:cNvSpPr>
            <a:spLocks noGrp="1"/>
          </p:cNvSpPr>
          <p:nvPr>
            <p:ph sz="half" idx="1"/>
          </p:nvPr>
        </p:nvSpPr>
        <p:spPr>
          <a:xfrm>
            <a:off x="838200" y="1150130"/>
            <a:ext cx="10515600" cy="1097555"/>
          </a:xfrm>
        </p:spPr>
        <p:txBody>
          <a:bodyPr>
            <a:normAutofit fontScale="25000" lnSpcReduction="20000"/>
          </a:bodyPr>
          <a:lstStyle/>
          <a:p>
            <a:pPr marL="0" indent="0" algn="ctr">
              <a:buNone/>
            </a:pPr>
            <a:r>
              <a:rPr lang="en-US" sz="9600" dirty="0">
                <a:latin typeface="Times New Roman" panose="02020603050405020304" pitchFamily="18" charset="0"/>
                <a:cs typeface="Times New Roman" panose="02020603050405020304" pitchFamily="18" charset="0"/>
              </a:rPr>
              <a:t>Student Name: Degala Satvarsh</a:t>
            </a:r>
          </a:p>
          <a:p>
            <a:pPr marL="0" indent="0" algn="ctr">
              <a:buNone/>
            </a:pPr>
            <a:r>
              <a:rPr lang="en-US" sz="9600" dirty="0">
                <a:latin typeface="Times New Roman" panose="02020603050405020304" pitchFamily="18" charset="0"/>
                <a:cs typeface="Times New Roman" panose="02020603050405020304" pitchFamily="18" charset="0"/>
              </a:rPr>
              <a:t>Student ID: 2520090080</a:t>
            </a:r>
            <a:endParaRPr lang="en-US" sz="2400" dirty="0">
              <a:latin typeface="Times New Roman" panose="02020603050405020304" pitchFamily="18" charset="0"/>
              <a:cs typeface="Times New Roman" panose="02020603050405020304" pitchFamily="18" charset="0"/>
            </a:endParaRPr>
          </a:p>
          <a:p>
            <a:pPr marL="0" indent="0" algn="ctr">
              <a:buNone/>
            </a:pPr>
            <a:r>
              <a:rPr lang="en-US" sz="11200" dirty="0">
                <a:latin typeface="Times New Roman" panose="02020603050405020304" pitchFamily="18" charset="0"/>
                <a:cs typeface="Times New Roman" panose="02020603050405020304" pitchFamily="18" charset="0"/>
              </a:rPr>
              <a:t>Cluster:3</a:t>
            </a:r>
          </a:p>
          <a:p>
            <a:pPr marL="0" indent="0" algn="ctr">
              <a:buNone/>
            </a:pPr>
            <a:r>
              <a:rPr lang="en-US" sz="11200" dirty="0">
                <a:latin typeface="Times New Roman" panose="02020603050405020304" pitchFamily="18" charset="0"/>
                <a:cs typeface="Times New Roman" panose="02020603050405020304" pitchFamily="18" charset="0"/>
              </a:rPr>
              <a:t>Section: 12</a:t>
            </a: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fld id="{D4ABCEED-36AB-D94A-B562-4D3E096B39D1}" type="datetime1">
              <a:rPr lang="en-IN" smtClean="0"/>
              <a:t>10-03-2026</a:t>
            </a:fld>
            <a:endParaRPr lang="en-US"/>
          </a:p>
        </p:txBody>
      </p:sp>
      <p:pic>
        <p:nvPicPr>
          <p:cNvPr id="12" name="Picture 11" descr="A picture containing shape&#10;&#10;Description automatically generated">
            <a:extLst>
              <a:ext uri="{FF2B5EF4-FFF2-40B4-BE49-F238E27FC236}">
                <a16:creationId xmlns:a16="http://schemas.microsoft.com/office/drawing/2014/main" id="{22EBCDF0-8C0C-C908-85EA-FD8A72825B21}"/>
              </a:ext>
            </a:extLst>
          </p:cNvPr>
          <p:cNvPicPr>
            <a:picLocks noChangeAspect="1"/>
          </p:cNvPicPr>
          <p:nvPr/>
        </p:nvPicPr>
        <p:blipFill>
          <a:blip r:embed="rId2"/>
          <a:stretch>
            <a:fillRect/>
          </a:stretch>
        </p:blipFill>
        <p:spPr>
          <a:xfrm>
            <a:off x="5356361" y="5015918"/>
            <a:ext cx="1725712" cy="930978"/>
          </a:xfrm>
          <a:prstGeom prst="rect">
            <a:avLst/>
          </a:prstGeom>
        </p:spPr>
      </p:pic>
      <p:sp>
        <p:nvSpPr>
          <p:cNvPr id="13" name="Content Placeholder 3">
            <a:extLst>
              <a:ext uri="{FF2B5EF4-FFF2-40B4-BE49-F238E27FC236}">
                <a16:creationId xmlns:a16="http://schemas.microsoft.com/office/drawing/2014/main" id="{3F9DE7D0-41AC-90DD-3065-235240261B1B}"/>
              </a:ext>
            </a:extLst>
          </p:cNvPr>
          <p:cNvSpPr txBox="1">
            <a:spLocks/>
          </p:cNvSpPr>
          <p:nvPr/>
        </p:nvSpPr>
        <p:spPr>
          <a:xfrm>
            <a:off x="838200" y="3332480"/>
            <a:ext cx="11199471" cy="1571945"/>
          </a:xfrm>
          <a:prstGeom prst="rect">
            <a:avLst/>
          </a:prstGeom>
        </p:spPr>
        <p:txBody>
          <a:bodyPr vert="horz" lIns="91440" tIns="45720" rIns="91440" bIns="45720" rtlCol="0">
            <a:normAutofit fontScale="2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8600" dirty="0">
                <a:latin typeface="Times New Roman" panose="02020603050405020304" pitchFamily="18" charset="0"/>
                <a:cs typeface="Times New Roman" panose="02020603050405020304" pitchFamily="18" charset="0"/>
              </a:rPr>
              <a:t>Under the Guidance </a:t>
            </a:r>
          </a:p>
          <a:p>
            <a:pPr marL="0" indent="0" algn="ctr">
              <a:buNone/>
            </a:pPr>
            <a:r>
              <a:rPr lang="en-US" sz="8600" dirty="0">
                <a:latin typeface="Times New Roman" panose="02020603050405020304" pitchFamily="18" charset="0"/>
                <a:cs typeface="Times New Roman" panose="02020603050405020304" pitchFamily="18" charset="0"/>
              </a:rPr>
              <a:t>of </a:t>
            </a:r>
            <a:endParaRPr lang="en-US" sz="8600" dirty="0">
              <a:solidFill>
                <a:srgbClr val="00B050"/>
              </a:solidFill>
              <a:latin typeface="Times New Roman" panose="02020603050405020304" pitchFamily="18" charset="0"/>
              <a:cs typeface="Times New Roman" panose="02020603050405020304" pitchFamily="18" charset="0"/>
            </a:endParaRP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Supervisor Name</a:t>
            </a:r>
            <a:r>
              <a:rPr lang="en-US" sz="8600">
                <a:solidFill>
                  <a:srgbClr val="00B050"/>
                </a:solidFill>
                <a:latin typeface="Times New Roman" panose="02020603050405020304" pitchFamily="18" charset="0"/>
                <a:cs typeface="Times New Roman" panose="02020603050405020304" pitchFamily="18" charset="0"/>
              </a:rPr>
              <a:t>: G . </a:t>
            </a:r>
            <a:r>
              <a:rPr lang="en-US" sz="8600" dirty="0">
                <a:solidFill>
                  <a:srgbClr val="00B050"/>
                </a:solidFill>
                <a:latin typeface="Times New Roman" panose="02020603050405020304" pitchFamily="18" charset="0"/>
                <a:cs typeface="Times New Roman" panose="02020603050405020304" pitchFamily="18" charset="0"/>
              </a:rPr>
              <a:t>Sudhakar</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Assistant Professor</a:t>
            </a:r>
          </a:p>
          <a:p>
            <a:pPr marL="0" indent="0" algn="ctr">
              <a:buNone/>
            </a:pPr>
            <a:r>
              <a:rPr lang="en-US" sz="8600" dirty="0">
                <a:solidFill>
                  <a:srgbClr val="00B050"/>
                </a:solidFill>
                <a:latin typeface="Times New Roman" panose="02020603050405020304" pitchFamily="18" charset="0"/>
                <a:cs typeface="Times New Roman" panose="02020603050405020304" pitchFamily="18" charset="0"/>
              </a:rPr>
              <a:t>Department of CSE</a:t>
            </a:r>
          </a:p>
          <a:p>
            <a:pPr marL="0" indent="0">
              <a:buFont typeface="Arial" panose="020B0604020202020204" pitchFamily="34" charset="0"/>
              <a:buNone/>
            </a:pPr>
            <a:endParaRPr lang="en-US" sz="2400" dirty="0">
              <a:solidFill>
                <a:srgbClr val="00B050"/>
              </a:solidFill>
            </a:endParaRPr>
          </a:p>
        </p:txBody>
      </p:sp>
      <p:sp>
        <p:nvSpPr>
          <p:cNvPr id="5" name="Slide Number Placeholder 4">
            <a:extLst>
              <a:ext uri="{FF2B5EF4-FFF2-40B4-BE49-F238E27FC236}">
                <a16:creationId xmlns:a16="http://schemas.microsoft.com/office/drawing/2014/main" id="{8A4C03D2-3952-BF4D-18CA-C2C8547E2A2A}"/>
              </a:ext>
            </a:extLst>
          </p:cNvPr>
          <p:cNvSpPr>
            <a:spLocks noGrp="1"/>
          </p:cNvSpPr>
          <p:nvPr>
            <p:ph type="sldNum" sz="quarter" idx="12"/>
          </p:nvPr>
        </p:nvSpPr>
        <p:spPr/>
        <p:txBody>
          <a:bodyPr/>
          <a:lstStyle/>
          <a:p>
            <a:fld id="{B961B71F-4B40-8942-BB88-E0F5C0B46E10}" type="slidenum">
              <a:rPr lang="en-US" smtClean="0"/>
              <a:t>2</a:t>
            </a:fld>
            <a:endParaRPr lang="en-US"/>
          </a:p>
        </p:txBody>
      </p:sp>
    </p:spTree>
    <p:extLst>
      <p:ext uri="{BB962C8B-B14F-4D97-AF65-F5344CB8AC3E}">
        <p14:creationId xmlns:p14="http://schemas.microsoft.com/office/powerpoint/2010/main" val="10170163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493134"/>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Existing System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Proposed System</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System Architecture</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Project Modules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 </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Co’s Attainments - FWD</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Co1</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Co2 …….. 5. Co5</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Co’s Attainments - DSA</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Co1</a:t>
            </a:r>
          </a:p>
          <a:p>
            <a:pPr marL="971550" lvl="1" indent="-514350">
              <a:buFont typeface="+mj-lt"/>
              <a:buAutoNum type="arabicPeriod"/>
            </a:pPr>
            <a:r>
              <a:rPr lang="en-IN" dirty="0">
                <a:latin typeface="Times New Roman" panose="02020603050405020304" pitchFamily="18" charset="0"/>
                <a:cs typeface="Times New Roman" panose="02020603050405020304" pitchFamily="18" charset="0"/>
              </a:rPr>
              <a:t>Co2 …….. 5. Co5</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Screen Shots for FWD &amp; DSA</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Conclusion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Geo-Tagged Photos</a:t>
            </a:r>
          </a:p>
          <a:p>
            <a:pPr marL="514350" indent="-514350">
              <a:buFont typeface="+mj-lt"/>
              <a:buAutoNum type="arabicPeriod"/>
            </a:pPr>
            <a:endParaRPr lang="en-IN" dirty="0"/>
          </a:p>
          <a:p>
            <a:endParaRPr lang="en-US" dirty="0"/>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5D381120-93CB-BF4D-9125-DC4781C9106A}"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3</a:t>
            </a:fld>
            <a:endParaRPr lang="en-US"/>
          </a:p>
        </p:txBody>
      </p:sp>
    </p:spTree>
    <p:extLst>
      <p:ext uri="{BB962C8B-B14F-4D97-AF65-F5344CB8AC3E}">
        <p14:creationId xmlns:p14="http://schemas.microsoft.com/office/powerpoint/2010/main" val="326239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825625"/>
            <a:ext cx="10515600" cy="3979952"/>
          </a:xfrm>
        </p:spPr>
        <p:txBody>
          <a:bodyPr>
            <a:normAutofit/>
          </a:bodyPr>
          <a:lstStyle/>
          <a:p>
            <a:r>
              <a:rPr lang="en-US" sz="2000" dirty="0">
                <a:latin typeface="Times New Roman" panose="02020603050405020304" pitchFamily="18" charset="0"/>
                <a:ea typeface="Tahoma" panose="020B0604030504040204" pitchFamily="34" charset="0"/>
                <a:cs typeface="Times New Roman" panose="02020603050405020304" pitchFamily="18" charset="0"/>
              </a:rPr>
              <a:t>The project “Career Build on Smart Connections” is a web-based platform designed to help students and young professionals grow their careers by building meaningful professional relationships. The platform focuses on the importance of networking, mentorship, and access to career opportunities such as internships and job openings. By encouraging users to connect with professionals and mentors, the system helps individuals gain valuable career guidance, improve their skills, and discover new opportunities in their fields of interest.</a:t>
            </a:r>
          </a:p>
          <a:p>
            <a:r>
              <a:rPr lang="en-US" sz="2000" dirty="0">
                <a:latin typeface="Times New Roman" panose="02020603050405020304" pitchFamily="18" charset="0"/>
                <a:ea typeface="Tahoma" panose="020B0604030504040204" pitchFamily="34" charset="0"/>
                <a:cs typeface="Times New Roman" panose="02020603050405020304" pitchFamily="18" charset="0"/>
              </a:rPr>
              <a:t>The system allows users to create profiles, build professional connections, and access career-related information in an organized and efficient manner. Opportunities such as internships and job openings are presented in a structured way so that users can easily discover options that match their interests and career goals. The platform also encourages mentorship by enabling experienced professionals to guide students in improving their skills, preparing for interviews, and understanding industry expectations.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4</a:t>
            </a:fld>
            <a:endParaRPr lang="en-US"/>
          </a:p>
        </p:txBody>
      </p:sp>
    </p:spTree>
    <p:extLst>
      <p:ext uri="{BB962C8B-B14F-4D97-AF65-F5344CB8AC3E}">
        <p14:creationId xmlns:p14="http://schemas.microsoft.com/office/powerpoint/2010/main" val="27157837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Existing System </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Autofit/>
          </a:bodyPr>
          <a:lstStyle/>
          <a:p>
            <a:pPr marL="457200" lvl="1" indent="-339725"/>
            <a:r>
              <a:rPr lang="en-US" dirty="0">
                <a:latin typeface="Times New Roman" panose="02020603050405020304" pitchFamily="18" charset="0"/>
                <a:cs typeface="Times New Roman" panose="02020603050405020304" pitchFamily="18" charset="0"/>
              </a:rPr>
              <a:t>Students mainly rely on traditional methods to search for internships and job opportunities. </a:t>
            </a:r>
          </a:p>
          <a:p>
            <a:pPr marL="457200" lvl="1" indent="-339725"/>
            <a:r>
              <a:rPr lang="en-US" dirty="0">
                <a:latin typeface="Times New Roman" panose="02020603050405020304" pitchFamily="18" charset="0"/>
                <a:cs typeface="Times New Roman" panose="02020603050405020304" pitchFamily="18" charset="0"/>
              </a:rPr>
              <a:t>Career information is spread across different platforms such as social media, job portals, and personal contacts.</a:t>
            </a:r>
          </a:p>
          <a:p>
            <a:pPr marL="457200" lvl="1" indent="-339725"/>
            <a:r>
              <a:rPr lang="en-US" dirty="0">
                <a:latin typeface="Times New Roman" panose="02020603050405020304" pitchFamily="18" charset="0"/>
                <a:cs typeface="Times New Roman" panose="02020603050405020304" pitchFamily="18" charset="0"/>
              </a:rPr>
              <a:t>There is no single platform dedicated to connecting students with mentors and professionals.</a:t>
            </a:r>
          </a:p>
          <a:p>
            <a:pPr marL="457200" lvl="1" indent="-339725"/>
            <a:r>
              <a:rPr lang="en-US" dirty="0">
                <a:latin typeface="Times New Roman" panose="02020603050405020304" pitchFamily="18" charset="0"/>
                <a:cs typeface="Times New Roman" panose="02020603050405020304" pitchFamily="18" charset="0"/>
              </a:rPr>
              <a:t>Finding relevant career guidance and mentorship can be difficult for students.</a:t>
            </a:r>
          </a:p>
          <a:p>
            <a:pPr marL="457200" lvl="1" indent="-339725"/>
            <a:r>
              <a:rPr lang="en-US" dirty="0">
                <a:latin typeface="Times New Roman" panose="02020603050405020304" pitchFamily="18" charset="0"/>
                <a:cs typeface="Times New Roman" panose="02020603050405020304" pitchFamily="18" charset="0"/>
              </a:rPr>
              <a:t>Opportunities are not always organized, making it hard for users to quickly identify suitable options.</a:t>
            </a:r>
          </a:p>
          <a:p>
            <a:pPr marL="457200" lvl="1" indent="-339725"/>
            <a:r>
              <a:rPr lang="en-US" dirty="0">
                <a:latin typeface="Times New Roman" panose="02020603050405020304" pitchFamily="18" charset="0"/>
                <a:cs typeface="Times New Roman" panose="02020603050405020304" pitchFamily="18" charset="0"/>
              </a:rPr>
              <a:t>Communication between students and experienced professionals is limited.</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22CB9F02-6AB8-A348-9013-8FCBB817482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5</a:t>
            </a:fld>
            <a:endParaRPr lang="en-US"/>
          </a:p>
        </p:txBody>
      </p:sp>
    </p:spTree>
    <p:extLst>
      <p:ext uri="{BB962C8B-B14F-4D97-AF65-F5344CB8AC3E}">
        <p14:creationId xmlns:p14="http://schemas.microsoft.com/office/powerpoint/2010/main" val="9308333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E7308-1D11-0801-FB87-8CFF8CD98E9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EAE696E-C5CB-1479-F98C-F7C2D0B7BED0}"/>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Proposed System</a:t>
            </a:r>
          </a:p>
        </p:txBody>
      </p:sp>
      <p:sp>
        <p:nvSpPr>
          <p:cNvPr id="9" name="Content Placeholder 8">
            <a:extLst>
              <a:ext uri="{FF2B5EF4-FFF2-40B4-BE49-F238E27FC236}">
                <a16:creationId xmlns:a16="http://schemas.microsoft.com/office/drawing/2014/main" id="{89135224-75FA-6942-7E71-50A315519F9D}"/>
              </a:ext>
            </a:extLst>
          </p:cNvPr>
          <p:cNvSpPr>
            <a:spLocks noGrp="1"/>
          </p:cNvSpPr>
          <p:nvPr>
            <p:ph idx="1"/>
          </p:nvPr>
        </p:nvSpPr>
        <p:spPr>
          <a:xfrm>
            <a:off x="838200" y="1825624"/>
            <a:ext cx="10515600" cy="4368141"/>
          </a:xfrm>
        </p:spPr>
        <p:txBody>
          <a:bodyPr>
            <a:noAutofit/>
          </a:bodyPr>
          <a:lstStyle/>
          <a:p>
            <a:r>
              <a:rPr lang="en-US" sz="2400" dirty="0">
                <a:latin typeface="Times New Roman" panose="02020603050405020304" pitchFamily="18" charset="0"/>
                <a:cs typeface="Times New Roman" panose="02020603050405020304" pitchFamily="18" charset="0"/>
              </a:rPr>
              <a:t>A web-based platform designed to help students and young professionals build strong career connections.</a:t>
            </a:r>
          </a:p>
          <a:p>
            <a:r>
              <a:rPr lang="en-US" sz="2400" dirty="0">
                <a:latin typeface="Times New Roman" panose="02020603050405020304" pitchFamily="18" charset="0"/>
                <a:cs typeface="Times New Roman" panose="02020603050405020304" pitchFamily="18" charset="0"/>
              </a:rPr>
              <a:t>Provides a centralized system to explore internships, job opportunities, and career resources. </a:t>
            </a:r>
          </a:p>
          <a:p>
            <a:r>
              <a:rPr lang="en-US" sz="2400" dirty="0">
                <a:latin typeface="Times New Roman" panose="02020603050405020304" pitchFamily="18" charset="0"/>
                <a:cs typeface="Times New Roman" panose="02020603050405020304" pitchFamily="18" charset="0"/>
              </a:rPr>
              <a:t>Allows users to create profiles and connect with mentors and professionals.</a:t>
            </a:r>
          </a:p>
          <a:p>
            <a:r>
              <a:rPr lang="en-US" sz="2400" dirty="0">
                <a:latin typeface="Times New Roman" panose="02020603050405020304" pitchFamily="18" charset="0"/>
                <a:cs typeface="Times New Roman" panose="02020603050405020304" pitchFamily="18" charset="0"/>
              </a:rPr>
              <a:t>Enables efficient searching and organized display of opportunities and professional connections.</a:t>
            </a:r>
          </a:p>
          <a:p>
            <a:r>
              <a:rPr lang="en-US" sz="2400" dirty="0">
                <a:latin typeface="Times New Roman" panose="02020603050405020304" pitchFamily="18" charset="0"/>
                <a:cs typeface="Times New Roman" panose="02020603050405020304" pitchFamily="18" charset="0"/>
              </a:rPr>
              <a:t>Encourages mentorship where experienced professionals can guide students in their career paths.</a:t>
            </a:r>
          </a:p>
          <a:p>
            <a:r>
              <a:rPr lang="en-US" sz="2400" dirty="0">
                <a:latin typeface="Times New Roman" panose="02020603050405020304" pitchFamily="18" charset="0"/>
                <a:cs typeface="Times New Roman" panose="02020603050405020304" pitchFamily="18" charset="0"/>
              </a:rPr>
              <a:t>Provides a structured environment to manage professional relationships and networking activities.</a:t>
            </a:r>
            <a:br>
              <a:rPr lang="en-US" sz="2400" dirty="0"/>
            </a:br>
            <a:endParaRPr lang="en-US" sz="2400" dirty="0"/>
          </a:p>
        </p:txBody>
      </p:sp>
      <p:sp>
        <p:nvSpPr>
          <p:cNvPr id="5" name="Date Placeholder 4">
            <a:extLst>
              <a:ext uri="{FF2B5EF4-FFF2-40B4-BE49-F238E27FC236}">
                <a16:creationId xmlns:a16="http://schemas.microsoft.com/office/drawing/2014/main" id="{DBF95472-1444-D525-21F0-49779A036CF4}"/>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5E105F9-7400-1835-C4B4-B38C94DE631B}"/>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F9D399E1-BA43-10D5-C92A-C058676C1ABA}"/>
              </a:ext>
            </a:extLst>
          </p:cNvPr>
          <p:cNvSpPr>
            <a:spLocks noGrp="1"/>
          </p:cNvSpPr>
          <p:nvPr>
            <p:ph type="sldNum" sz="quarter" idx="12"/>
          </p:nvPr>
        </p:nvSpPr>
        <p:spPr/>
        <p:txBody>
          <a:bodyPr/>
          <a:lstStyle/>
          <a:p>
            <a:fld id="{B961B71F-4B40-8942-BB88-E0F5C0B46E10}" type="slidenum">
              <a:rPr lang="en-US" smtClean="0"/>
              <a:t>6</a:t>
            </a:fld>
            <a:endParaRPr lang="en-US"/>
          </a:p>
        </p:txBody>
      </p:sp>
    </p:spTree>
    <p:extLst>
      <p:ext uri="{BB962C8B-B14F-4D97-AF65-F5344CB8AC3E}">
        <p14:creationId xmlns:p14="http://schemas.microsoft.com/office/powerpoint/2010/main" val="32054848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A1740-4A22-BB35-FC5B-E9B7814955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17383E4-A635-5D2C-0BA9-6A9D4A506E92}"/>
              </a:ext>
            </a:extLst>
          </p:cNvPr>
          <p:cNvSpPr>
            <a:spLocks noGrp="1"/>
          </p:cNvSpPr>
          <p:nvPr>
            <p:ph type="title"/>
          </p:nvPr>
        </p:nvSpPr>
        <p:spPr>
          <a:xfrm>
            <a:off x="1180618" y="365125"/>
            <a:ext cx="10173182" cy="1128009"/>
          </a:xfrm>
        </p:spPr>
        <p:txBody>
          <a:bodyPr/>
          <a:lstStyle/>
          <a:p>
            <a:pPr algn="ctr"/>
            <a:r>
              <a:rPr lang="en-US" b="1" dirty="0"/>
              <a:t>System Architecture</a:t>
            </a:r>
          </a:p>
        </p:txBody>
      </p:sp>
      <p:pic>
        <p:nvPicPr>
          <p:cNvPr id="3" name="Content Placeholder 2">
            <a:extLst>
              <a:ext uri="{FF2B5EF4-FFF2-40B4-BE49-F238E27FC236}">
                <a16:creationId xmlns:a16="http://schemas.microsoft.com/office/drawing/2014/main" id="{3776223E-FA24-FA91-A7FF-63F020BA223D}"/>
              </a:ext>
            </a:extLst>
          </p:cNvPr>
          <p:cNvPicPr>
            <a:picLocks noGrp="1" noChangeAspect="1"/>
          </p:cNvPicPr>
          <p:nvPr>
            <p:ph idx="1"/>
          </p:nvPr>
        </p:nvPicPr>
        <p:blipFill>
          <a:blip r:embed="rId2"/>
          <a:stretch>
            <a:fillRect/>
          </a:stretch>
        </p:blipFill>
        <p:spPr>
          <a:xfrm>
            <a:off x="1733909" y="1268082"/>
            <a:ext cx="8669548" cy="5088267"/>
          </a:xfrm>
          <a:prstGeom prst="rect">
            <a:avLst/>
          </a:prstGeom>
        </p:spPr>
      </p:pic>
      <p:sp>
        <p:nvSpPr>
          <p:cNvPr id="5" name="Date Placeholder 4">
            <a:extLst>
              <a:ext uri="{FF2B5EF4-FFF2-40B4-BE49-F238E27FC236}">
                <a16:creationId xmlns:a16="http://schemas.microsoft.com/office/drawing/2014/main" id="{ABAD3843-97BD-682A-B84E-8FDB182580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8AA237BD-B76F-738D-5648-B271AAD57998}"/>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27B2409B-FFAD-25CD-834C-0C2CA4A71B30}"/>
              </a:ext>
            </a:extLst>
          </p:cNvPr>
          <p:cNvSpPr>
            <a:spLocks noGrp="1"/>
          </p:cNvSpPr>
          <p:nvPr>
            <p:ph type="sldNum" sz="quarter" idx="12"/>
          </p:nvPr>
        </p:nvSpPr>
        <p:spPr/>
        <p:txBody>
          <a:bodyPr/>
          <a:lstStyle/>
          <a:p>
            <a:fld id="{B961B71F-4B40-8942-BB88-E0F5C0B46E10}" type="slidenum">
              <a:rPr lang="en-US" smtClean="0"/>
              <a:t>7</a:t>
            </a:fld>
            <a:endParaRPr lang="en-US"/>
          </a:p>
        </p:txBody>
      </p:sp>
    </p:spTree>
    <p:extLst>
      <p:ext uri="{BB962C8B-B14F-4D97-AF65-F5344CB8AC3E}">
        <p14:creationId xmlns:p14="http://schemas.microsoft.com/office/powerpoint/2010/main" val="3489011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03485-1CDC-6A29-86F1-EC5F9BB7E72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F8E0586-CE85-480D-585E-FCD3C3448CF2}"/>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Project Modules</a:t>
            </a:r>
          </a:p>
        </p:txBody>
      </p:sp>
      <p:sp>
        <p:nvSpPr>
          <p:cNvPr id="9" name="Content Placeholder 8">
            <a:extLst>
              <a:ext uri="{FF2B5EF4-FFF2-40B4-BE49-F238E27FC236}">
                <a16:creationId xmlns:a16="http://schemas.microsoft.com/office/drawing/2014/main" id="{1890F206-B37F-761D-F471-0BF91F889799}"/>
              </a:ext>
            </a:extLst>
          </p:cNvPr>
          <p:cNvSpPr>
            <a:spLocks noGrp="1"/>
          </p:cNvSpPr>
          <p:nvPr>
            <p:ph idx="1"/>
          </p:nvPr>
        </p:nvSpPr>
        <p:spPr/>
        <p:txBody>
          <a:bodyPr>
            <a:normAutofit fontScale="92500" lnSpcReduction="10000"/>
          </a:bodyPr>
          <a:lstStyle/>
          <a:p>
            <a:r>
              <a:rPr lang="en-US" b="1" dirty="0">
                <a:latin typeface="Times New Roman" panose="02020603050405020304" pitchFamily="18" charset="0"/>
                <a:cs typeface="Times New Roman" panose="02020603050405020304" pitchFamily="18" charset="0"/>
              </a:rPr>
              <a:t>User Registration &amp; Login Module - </a:t>
            </a:r>
            <a:r>
              <a:rPr lang="en-US" dirty="0">
                <a:latin typeface="Times New Roman" panose="02020603050405020304" pitchFamily="18" charset="0"/>
                <a:cs typeface="Times New Roman" panose="02020603050405020304" pitchFamily="18" charset="0"/>
              </a:rPr>
              <a:t>Allows users to create an account and securely log in to the platform.</a:t>
            </a:r>
          </a:p>
          <a:p>
            <a:r>
              <a:rPr lang="en-US" b="1" dirty="0">
                <a:latin typeface="Times New Roman" panose="02020603050405020304" pitchFamily="18" charset="0"/>
                <a:cs typeface="Times New Roman" panose="02020603050405020304" pitchFamily="18" charset="0"/>
              </a:rPr>
              <a:t>User Profile Management Module - </a:t>
            </a:r>
            <a:r>
              <a:rPr lang="en-US" dirty="0">
                <a:latin typeface="Times New Roman" panose="02020603050405020304" pitchFamily="18" charset="0"/>
                <a:cs typeface="Times New Roman" panose="02020603050405020304" pitchFamily="18" charset="0"/>
              </a:rPr>
              <a:t>Enables users to create and update their professional profiles.</a:t>
            </a:r>
          </a:p>
          <a:p>
            <a:r>
              <a:rPr lang="en-US" b="1" dirty="0">
                <a:latin typeface="Times New Roman" panose="02020603050405020304" pitchFamily="18" charset="0"/>
                <a:cs typeface="Times New Roman" panose="02020603050405020304" pitchFamily="18" charset="0"/>
              </a:rPr>
              <a:t>Networking Module - </a:t>
            </a:r>
            <a:r>
              <a:rPr lang="en-US" dirty="0">
                <a:latin typeface="Times New Roman" panose="02020603050405020304" pitchFamily="18" charset="0"/>
                <a:cs typeface="Times New Roman" panose="02020603050405020304" pitchFamily="18" charset="0"/>
              </a:rPr>
              <a:t>Allows users to connect with other students, mentors, and professionals.</a:t>
            </a:r>
          </a:p>
          <a:p>
            <a:r>
              <a:rPr lang="en-US" b="1" dirty="0">
                <a:latin typeface="Times New Roman" panose="02020603050405020304" pitchFamily="18" charset="0"/>
                <a:cs typeface="Times New Roman" panose="02020603050405020304" pitchFamily="18" charset="0"/>
              </a:rPr>
              <a:t>Mentorship Module - </a:t>
            </a:r>
            <a:r>
              <a:rPr lang="en-US" dirty="0">
                <a:latin typeface="Times New Roman" panose="02020603050405020304" pitchFamily="18" charset="0"/>
                <a:cs typeface="Times New Roman" panose="02020603050405020304" pitchFamily="18" charset="0"/>
              </a:rPr>
              <a:t>Connects students with experienced professionals who can guide them.</a:t>
            </a:r>
          </a:p>
          <a:p>
            <a:r>
              <a:rPr lang="en-US" b="1" dirty="0">
                <a:latin typeface="Times New Roman" panose="02020603050405020304" pitchFamily="18" charset="0"/>
                <a:cs typeface="Times New Roman" panose="02020603050405020304" pitchFamily="18" charset="0"/>
              </a:rPr>
              <a:t>Data Management Module - </a:t>
            </a:r>
            <a:r>
              <a:rPr lang="en-US" dirty="0">
                <a:latin typeface="Times New Roman" panose="02020603050405020304" pitchFamily="18" charset="0"/>
                <a:cs typeface="Times New Roman" panose="02020603050405020304" pitchFamily="18" charset="0"/>
              </a:rPr>
              <a:t>Stores and manages user profiles, connections, and opportunities.</a:t>
            </a:r>
            <a:br>
              <a:rPr lang="en-US" dirty="0"/>
            </a:br>
            <a:endParaRPr lang="en-US" dirty="0"/>
          </a:p>
        </p:txBody>
      </p:sp>
      <p:sp>
        <p:nvSpPr>
          <p:cNvPr id="5" name="Date Placeholder 4">
            <a:extLst>
              <a:ext uri="{FF2B5EF4-FFF2-40B4-BE49-F238E27FC236}">
                <a16:creationId xmlns:a16="http://schemas.microsoft.com/office/drawing/2014/main" id="{919FF571-AABB-DBF0-2720-7F01DFDDF1CF}"/>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ECAF6678-7BBF-2FBC-8619-C887BD26D4F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E45A9859-4671-FF5D-1356-4CDA5C5CDEA3}"/>
              </a:ext>
            </a:extLst>
          </p:cNvPr>
          <p:cNvSpPr>
            <a:spLocks noGrp="1"/>
          </p:cNvSpPr>
          <p:nvPr>
            <p:ph type="sldNum" sz="quarter" idx="12"/>
          </p:nvPr>
        </p:nvSpPr>
        <p:spPr/>
        <p:txBody>
          <a:bodyPr/>
          <a:lstStyle/>
          <a:p>
            <a:fld id="{B961B71F-4B40-8942-BB88-E0F5C0B46E10}" type="slidenum">
              <a:rPr lang="en-US" smtClean="0"/>
              <a:t>8</a:t>
            </a:fld>
            <a:endParaRPr lang="en-US"/>
          </a:p>
        </p:txBody>
      </p:sp>
    </p:spTree>
    <p:extLst>
      <p:ext uri="{BB962C8B-B14F-4D97-AF65-F5344CB8AC3E}">
        <p14:creationId xmlns:p14="http://schemas.microsoft.com/office/powerpoint/2010/main" val="4072965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73125-DE57-89FD-81B9-AA8B783FC87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87EB9E5-2196-BA25-5BC0-0ADC2050CEF9}"/>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363C44B8-E8B6-5D9D-90FF-ECD825D72DFC}"/>
              </a:ext>
            </a:extLst>
          </p:cNvPr>
          <p:cNvSpPr>
            <a:spLocks noGrp="1"/>
          </p:cNvSpPr>
          <p:nvPr>
            <p:ph idx="1"/>
          </p:nvPr>
        </p:nvSpPr>
        <p:spPr>
          <a:xfrm>
            <a:off x="838200" y="1825625"/>
            <a:ext cx="10515600" cy="4351338"/>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To develop a platform that helps students and young professionals build professional connections.</a:t>
            </a:r>
          </a:p>
          <a:p>
            <a:r>
              <a:rPr lang="en-US" dirty="0">
                <a:latin typeface="Times New Roman" panose="02020603050405020304" pitchFamily="18" charset="0"/>
                <a:cs typeface="Times New Roman" panose="02020603050405020304" pitchFamily="18" charset="0"/>
              </a:rPr>
              <a:t>To provide easy access to internships, job opportunities, and career resources.</a:t>
            </a:r>
          </a:p>
          <a:p>
            <a:r>
              <a:rPr lang="en-US" dirty="0">
                <a:latin typeface="Times New Roman" panose="02020603050405020304" pitchFamily="18" charset="0"/>
                <a:cs typeface="Times New Roman" panose="02020603050405020304" pitchFamily="18" charset="0"/>
              </a:rPr>
              <a:t>To encourage networking between students, mentors, and industry professionals.</a:t>
            </a:r>
          </a:p>
          <a:p>
            <a:r>
              <a:rPr lang="en-US" dirty="0">
                <a:latin typeface="Times New Roman" panose="02020603050405020304" pitchFamily="18" charset="0"/>
                <a:cs typeface="Times New Roman" panose="02020603050405020304" pitchFamily="18" charset="0"/>
              </a:rPr>
              <a:t>To help users receive career guidance and mentorship from experienced professionals.</a:t>
            </a:r>
          </a:p>
          <a:p>
            <a:r>
              <a:rPr lang="en-US" dirty="0">
                <a:latin typeface="Times New Roman" panose="02020603050405020304" pitchFamily="18" charset="0"/>
                <a:cs typeface="Times New Roman" panose="02020603050405020304" pitchFamily="18" charset="0"/>
              </a:rPr>
              <a:t>To organize and present career-related information in a structured and user-friendly way. </a:t>
            </a:r>
          </a:p>
          <a:p>
            <a:r>
              <a:rPr lang="en-US" dirty="0">
                <a:latin typeface="Times New Roman" panose="02020603050405020304" pitchFamily="18" charset="0"/>
                <a:cs typeface="Times New Roman" panose="02020603050405020304" pitchFamily="18" charset="0"/>
              </a:rPr>
              <a:t>To support users in improving their skills and preparing for future career opportunities.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68B0D62-5A39-5424-9CF6-9A5122E0D21E}"/>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7045F34-84C7-08FE-3B8E-621019BE8AFE}"/>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796C40D6-1BC6-8947-EA26-62259BD2C227}"/>
              </a:ext>
            </a:extLst>
          </p:cNvPr>
          <p:cNvSpPr>
            <a:spLocks noGrp="1"/>
          </p:cNvSpPr>
          <p:nvPr>
            <p:ph type="sldNum" sz="quarter" idx="12"/>
          </p:nvPr>
        </p:nvSpPr>
        <p:spPr/>
        <p:txBody>
          <a:bodyPr/>
          <a:lstStyle/>
          <a:p>
            <a:fld id="{B961B71F-4B40-8942-BB88-E0F5C0B46E10}" type="slidenum">
              <a:rPr lang="en-US" smtClean="0"/>
              <a:t>9</a:t>
            </a:fld>
            <a:endParaRPr lang="en-US"/>
          </a:p>
        </p:txBody>
      </p:sp>
    </p:spTree>
    <p:extLst>
      <p:ext uri="{BB962C8B-B14F-4D97-AF65-F5344CB8AC3E}">
        <p14:creationId xmlns:p14="http://schemas.microsoft.com/office/powerpoint/2010/main" val="1263985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49560-5402-A083-5191-CC2F23364A7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3A50108-EF3B-F9BF-CB25-7C4C67A41AAC}"/>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CO’s ATTAINMENT-FWD</a:t>
            </a:r>
          </a:p>
        </p:txBody>
      </p:sp>
      <p:sp>
        <p:nvSpPr>
          <p:cNvPr id="9" name="Content Placeholder 8">
            <a:extLst>
              <a:ext uri="{FF2B5EF4-FFF2-40B4-BE49-F238E27FC236}">
                <a16:creationId xmlns:a16="http://schemas.microsoft.com/office/drawing/2014/main" id="{8769557B-A6AB-F48D-9A16-51F755A17BB7}"/>
              </a:ext>
            </a:extLst>
          </p:cNvPr>
          <p:cNvSpPr>
            <a:spLocks noGrp="1"/>
          </p:cNvSpPr>
          <p:nvPr>
            <p:ph idx="1"/>
          </p:nvPr>
        </p:nvSpPr>
        <p:spPr/>
        <p:txBody>
          <a:bodyPr>
            <a:normAutofit fontScale="85000" lnSpcReduction="20000"/>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CO1:</a:t>
            </a:r>
          </a:p>
          <a:p>
            <a:pPr>
              <a:lnSpc>
                <a:spcPct val="150000"/>
              </a:lnSpc>
            </a:pPr>
            <a:r>
              <a:rPr lang="en-US" sz="1800" dirty="0">
                <a:latin typeface="Times New Roman" panose="02020603050405020304" pitchFamily="18" charset="0"/>
                <a:cs typeface="Times New Roman" panose="02020603050405020304" pitchFamily="18" charset="0"/>
              </a:rPr>
              <a:t>Internet and HTML concepts are used to create the basic structure of the website and connect it to the web using HTTP/HTTPS protocols. </a:t>
            </a:r>
          </a:p>
          <a:p>
            <a:pPr>
              <a:lnSpc>
                <a:spcPct val="150000"/>
              </a:lnSpc>
            </a:pPr>
            <a:r>
              <a:rPr lang="en-US" sz="1800" dirty="0">
                <a:latin typeface="Times New Roman" panose="02020603050405020304" pitchFamily="18" charset="0"/>
                <a:cs typeface="Times New Roman" panose="02020603050405020304" pitchFamily="18" charset="0"/>
              </a:rPr>
              <a:t>CSS styling is used to design the website layout, colors, fonts, and spacing to make the interface visually appealing.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CO2:</a:t>
            </a:r>
          </a:p>
          <a:p>
            <a:pPr>
              <a:lnSpc>
                <a:spcPct val="150000"/>
              </a:lnSpc>
            </a:pPr>
            <a:r>
              <a:rPr lang="en-US" sz="1800" dirty="0">
                <a:latin typeface="Times New Roman" panose="02020603050405020304" pitchFamily="18" charset="0"/>
                <a:cs typeface="Times New Roman" panose="02020603050405020304" pitchFamily="18" charset="0"/>
              </a:rPr>
              <a:t> HTML forms and input elements are used to collect user details such as account creation and login information. </a:t>
            </a:r>
          </a:p>
          <a:p>
            <a:pPr>
              <a:lnSpc>
                <a:spcPct val="150000"/>
              </a:lnSpc>
            </a:pPr>
            <a:r>
              <a:rPr lang="en-US" sz="1800" dirty="0">
                <a:latin typeface="Times New Roman" panose="02020603050405020304" pitchFamily="18" charset="0"/>
                <a:cs typeface="Times New Roman" panose="02020603050405020304" pitchFamily="18" charset="0"/>
              </a:rPr>
              <a:t>CSS layouts like Flexbox, Grid, and responsive design are used to organize website sections and make the site work on different devices.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CO3:</a:t>
            </a:r>
          </a:p>
          <a:p>
            <a:pPr>
              <a:lnSpc>
                <a:spcPct val="150000"/>
              </a:lnSpc>
            </a:pPr>
            <a:r>
              <a:rPr lang="en-US" sz="1800" dirty="0">
                <a:latin typeface="Times New Roman" panose="02020603050405020304" pitchFamily="18" charset="0"/>
                <a:cs typeface="Times New Roman" panose="02020603050405020304" pitchFamily="18" charset="0"/>
              </a:rPr>
              <a:t> JavaScript fundamentals are used to add logic and control the behavior of the website features. </a:t>
            </a:r>
          </a:p>
          <a:p>
            <a:pPr>
              <a:lnSpc>
                <a:spcPct val="150000"/>
              </a:lnSpc>
            </a:pPr>
            <a:r>
              <a:rPr lang="en-US" sz="1800" dirty="0">
                <a:latin typeface="Times New Roman" panose="02020603050405020304" pitchFamily="18" charset="0"/>
                <a:cs typeface="Times New Roman" panose="02020603050405020304" pitchFamily="18" charset="0"/>
              </a:rPr>
              <a:t>Objects and arrays are used to store and manage website data such as user information and content.</a:t>
            </a:r>
          </a:p>
        </p:txBody>
      </p:sp>
      <p:sp>
        <p:nvSpPr>
          <p:cNvPr id="5" name="Date Placeholder 4">
            <a:extLst>
              <a:ext uri="{FF2B5EF4-FFF2-40B4-BE49-F238E27FC236}">
                <a16:creationId xmlns:a16="http://schemas.microsoft.com/office/drawing/2014/main" id="{49D0E4ED-DE37-6D8E-7EB1-1F0F05E37DA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4925EEDF-18C5-49AB-9643-7F31370592F9}"/>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803C038D-A939-9973-E752-364BB70EE05C}"/>
              </a:ext>
            </a:extLst>
          </p:cNvPr>
          <p:cNvSpPr>
            <a:spLocks noGrp="1"/>
          </p:cNvSpPr>
          <p:nvPr>
            <p:ph type="sldNum" sz="quarter" idx="12"/>
          </p:nvPr>
        </p:nvSpPr>
        <p:spPr/>
        <p:txBody>
          <a:bodyPr/>
          <a:lstStyle/>
          <a:p>
            <a:fld id="{B961B71F-4B40-8942-BB88-E0F5C0B46E10}" type="slidenum">
              <a:rPr lang="en-US" smtClean="0"/>
              <a:t>10</a:t>
            </a:fld>
            <a:endParaRPr lang="en-US"/>
          </a:p>
        </p:txBody>
      </p:sp>
    </p:spTree>
    <p:extLst>
      <p:ext uri="{BB962C8B-B14F-4D97-AF65-F5344CB8AC3E}">
        <p14:creationId xmlns:p14="http://schemas.microsoft.com/office/powerpoint/2010/main" val="19069465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AA128-5574-A216-D58B-F1EAAAAFB6AD}"/>
              </a:ext>
            </a:extLst>
          </p:cNvPr>
          <p:cNvSpPr>
            <a:spLocks noGrp="1"/>
          </p:cNvSpPr>
          <p:nvPr>
            <p:ph idx="1"/>
          </p:nvPr>
        </p:nvSpPr>
        <p:spPr>
          <a:xfrm>
            <a:off x="838200" y="1253331"/>
            <a:ext cx="10515600" cy="4351338"/>
          </a:xfrm>
        </p:spPr>
        <p:txBody>
          <a:bodyPr>
            <a:normAutofit fontScale="92500"/>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CO4:</a:t>
            </a:r>
          </a:p>
          <a:p>
            <a:pPr>
              <a:lnSpc>
                <a:spcPct val="150000"/>
              </a:lnSpc>
            </a:pPr>
            <a:r>
              <a:rPr lang="en-US" sz="1800" dirty="0">
                <a:latin typeface="Times New Roman" panose="02020603050405020304" pitchFamily="18" charset="0"/>
                <a:cs typeface="Times New Roman" panose="02020603050405020304" pitchFamily="18" charset="0"/>
              </a:rPr>
              <a:t> DOM manipulation and event handling are used to make the website interactive when users click buttons or submit forms. </a:t>
            </a:r>
          </a:p>
          <a:p>
            <a:pPr>
              <a:lnSpc>
                <a:spcPct val="150000"/>
              </a:lnSpc>
            </a:pPr>
            <a:r>
              <a:rPr lang="en-US" sz="1800" dirty="0">
                <a:latin typeface="Times New Roman" panose="02020603050405020304" pitchFamily="18" charset="0"/>
                <a:cs typeface="Times New Roman" panose="02020603050405020304" pitchFamily="18" charset="0"/>
              </a:rPr>
              <a:t>Browser storage and asynchronous programming are used to store user data and handle background tasks smoothly.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CO5</a:t>
            </a:r>
            <a:r>
              <a:rPr lang="en-US" sz="1800" dirty="0">
                <a:latin typeface="Times New Roman" panose="02020603050405020304" pitchFamily="18" charset="0"/>
                <a:cs typeface="Times New Roman" panose="02020603050405020304" pitchFamily="18" charset="0"/>
              </a:rPr>
              <a:t>:</a:t>
            </a:r>
          </a:p>
          <a:p>
            <a:pPr>
              <a:lnSpc>
                <a:spcPct val="150000"/>
              </a:lnSpc>
            </a:pPr>
            <a:r>
              <a:rPr lang="en-US" sz="1800" dirty="0">
                <a:latin typeface="Times New Roman" panose="02020603050405020304" pitchFamily="18" charset="0"/>
                <a:cs typeface="Times New Roman" panose="02020603050405020304" pitchFamily="18" charset="0"/>
              </a:rPr>
              <a:t> JavaScript validation and API integration are used to process user inputs and connect the website with external services. </a:t>
            </a:r>
          </a:p>
          <a:p>
            <a:pPr>
              <a:lnSpc>
                <a:spcPct val="150000"/>
              </a:lnSpc>
            </a:pPr>
            <a:r>
              <a:rPr lang="en-US" sz="1800" dirty="0">
                <a:latin typeface="Times New Roman" panose="02020603050405020304" pitchFamily="18" charset="0"/>
                <a:cs typeface="Times New Roman" panose="02020603050405020304" pitchFamily="18" charset="0"/>
              </a:rPr>
              <a:t>Optimization, SEO meta tags, and deployment techniques are used to improve website performance and make it accessible online.</a:t>
            </a:r>
            <a:endParaRPr lang="en-IN"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E0A1612-F614-9D96-CB76-5D7C37744E0D}"/>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1F1359A-37A8-3B5F-3A66-933BCABC252F}"/>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E0C8E23-7C36-97E2-D8B0-47ABAB585C09}"/>
              </a:ext>
            </a:extLst>
          </p:cNvPr>
          <p:cNvSpPr>
            <a:spLocks noGrp="1"/>
          </p:cNvSpPr>
          <p:nvPr>
            <p:ph type="sldNum" sz="quarter" idx="12"/>
          </p:nvPr>
        </p:nvSpPr>
        <p:spPr/>
        <p:txBody>
          <a:bodyPr/>
          <a:lstStyle/>
          <a:p>
            <a:fld id="{B961B71F-4B40-8942-BB88-E0F5C0B46E10}" type="slidenum">
              <a:rPr lang="en-US" smtClean="0"/>
              <a:t>11</a:t>
            </a:fld>
            <a:endParaRPr lang="en-US"/>
          </a:p>
        </p:txBody>
      </p:sp>
    </p:spTree>
    <p:extLst>
      <p:ext uri="{BB962C8B-B14F-4D97-AF65-F5344CB8AC3E}">
        <p14:creationId xmlns:p14="http://schemas.microsoft.com/office/powerpoint/2010/main" val="26442205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A9CAF-7EB0-0890-1F26-CA3F8236AA1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7E0E9F0-7414-F19D-A367-C4D70D67BCB3}"/>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CO’s ATTAINMENT-DSA</a:t>
            </a:r>
          </a:p>
        </p:txBody>
      </p:sp>
      <p:sp>
        <p:nvSpPr>
          <p:cNvPr id="9" name="Content Placeholder 8">
            <a:extLst>
              <a:ext uri="{FF2B5EF4-FFF2-40B4-BE49-F238E27FC236}">
                <a16:creationId xmlns:a16="http://schemas.microsoft.com/office/drawing/2014/main" id="{6726AE93-69A8-DC85-DA45-05F4D66EF996}"/>
              </a:ext>
            </a:extLst>
          </p:cNvPr>
          <p:cNvSpPr>
            <a:spLocks noGrp="1"/>
          </p:cNvSpPr>
          <p:nvPr>
            <p:ph idx="1"/>
          </p:nvPr>
        </p:nvSpPr>
        <p:spPr>
          <a:xfrm>
            <a:off x="838200" y="1749073"/>
            <a:ext cx="10515600" cy="4351338"/>
          </a:xfrm>
        </p:spPr>
        <p:txBody>
          <a:bodyPr>
            <a:normAutofit fontScale="92500" lnSpcReduction="10000"/>
          </a:bodyPr>
          <a:lstStyle/>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CO1:</a:t>
            </a:r>
          </a:p>
          <a:p>
            <a:pPr>
              <a:lnSpc>
                <a:spcPct val="150000"/>
              </a:lnSpc>
            </a:pPr>
            <a:r>
              <a:rPr lang="en-US" sz="1800" dirty="0">
                <a:latin typeface="Times New Roman" panose="02020603050405020304" pitchFamily="18" charset="0"/>
                <a:cs typeface="Times New Roman" panose="02020603050405020304" pitchFamily="18" charset="0"/>
              </a:rPr>
              <a:t> Searching algorithms are used in the search feature of the website to quickly find opportunities or profiles. </a:t>
            </a:r>
          </a:p>
          <a:p>
            <a:pPr>
              <a:lnSpc>
                <a:spcPct val="150000"/>
              </a:lnSpc>
            </a:pPr>
            <a:r>
              <a:rPr lang="en-US" sz="1800" dirty="0">
                <a:latin typeface="Times New Roman" panose="02020603050405020304" pitchFamily="18" charset="0"/>
                <a:cs typeface="Times New Roman" panose="02020603050405020304" pitchFamily="18" charset="0"/>
              </a:rPr>
              <a:t>Sorting algorithms are used to arrange results like jobs, mentors, or connections efficiently.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CO2: </a:t>
            </a:r>
          </a:p>
          <a:p>
            <a:pPr>
              <a:lnSpc>
                <a:spcPct val="150000"/>
              </a:lnSpc>
            </a:pPr>
            <a:r>
              <a:rPr lang="en-US" sz="1800" dirty="0">
                <a:latin typeface="Times New Roman" panose="02020603050405020304" pitchFamily="18" charset="0"/>
                <a:cs typeface="Times New Roman" panose="02020603050405020304" pitchFamily="18" charset="0"/>
              </a:rPr>
              <a:t>List and linked list structures are used for storing and managing user data dynamically. </a:t>
            </a:r>
          </a:p>
          <a:p>
            <a:pPr>
              <a:lnSpc>
                <a:spcPct val="150000"/>
              </a:lnSpc>
            </a:pPr>
            <a:r>
              <a:rPr lang="en-US" sz="1800" dirty="0">
                <a:latin typeface="Times New Roman" panose="02020603050405020304" pitchFamily="18" charset="0"/>
                <a:cs typeface="Times New Roman" panose="02020603050405020304" pitchFamily="18" charset="0"/>
              </a:rPr>
              <a:t>Linked lists help in handling multiple connections, profiles, or posts in the platform. </a:t>
            </a:r>
          </a:p>
          <a:p>
            <a:pPr>
              <a:lnSpc>
                <a:spcPct val="150000"/>
              </a:lnSpc>
              <a:buFont typeface="Wingdings" panose="05000000000000000000" pitchFamily="2" charset="2"/>
              <a:buChar char="Ø"/>
            </a:pPr>
            <a:r>
              <a:rPr lang="en-US" sz="1800" b="1" dirty="0">
                <a:latin typeface="Times New Roman" panose="02020603050405020304" pitchFamily="18" charset="0"/>
                <a:cs typeface="Times New Roman" panose="02020603050405020304" pitchFamily="18" charset="0"/>
              </a:rPr>
              <a:t>CO3: </a:t>
            </a:r>
          </a:p>
          <a:p>
            <a:pPr>
              <a:lnSpc>
                <a:spcPct val="150000"/>
              </a:lnSpc>
            </a:pPr>
            <a:r>
              <a:rPr lang="en-US" sz="1800" dirty="0">
                <a:latin typeface="Times New Roman" panose="02020603050405020304" pitchFamily="18" charset="0"/>
                <a:cs typeface="Times New Roman" panose="02020603050405020304" pitchFamily="18" charset="0"/>
              </a:rPr>
              <a:t>Stacks are used in the system logic for processing expressions and managing operations. </a:t>
            </a:r>
          </a:p>
          <a:p>
            <a:pPr>
              <a:lnSpc>
                <a:spcPct val="150000"/>
              </a:lnSpc>
            </a:pPr>
            <a:r>
              <a:rPr lang="en-US" sz="1800" dirty="0">
                <a:latin typeface="Times New Roman" panose="02020603050405020304" pitchFamily="18" charset="0"/>
                <a:cs typeface="Times New Roman" panose="02020603050405020304" pitchFamily="18" charset="0"/>
              </a:rPr>
              <a:t>Queues are used to handle requests and manage tasks in an ordered manner.</a:t>
            </a:r>
          </a:p>
        </p:txBody>
      </p:sp>
      <p:sp>
        <p:nvSpPr>
          <p:cNvPr id="5" name="Date Placeholder 4">
            <a:extLst>
              <a:ext uri="{FF2B5EF4-FFF2-40B4-BE49-F238E27FC236}">
                <a16:creationId xmlns:a16="http://schemas.microsoft.com/office/drawing/2014/main" id="{12D1C05D-4DC9-ADC0-13CA-909E89023113}"/>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F4CC7196-73FE-144C-6DB9-248E7AB56907}"/>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194048-D768-5663-4851-89B00F981F60}"/>
              </a:ext>
            </a:extLst>
          </p:cNvPr>
          <p:cNvSpPr>
            <a:spLocks noGrp="1"/>
          </p:cNvSpPr>
          <p:nvPr>
            <p:ph type="sldNum" sz="quarter" idx="12"/>
          </p:nvPr>
        </p:nvSpPr>
        <p:spPr/>
        <p:txBody>
          <a:bodyPr/>
          <a:lstStyle/>
          <a:p>
            <a:fld id="{B961B71F-4B40-8942-BB88-E0F5C0B46E10}" type="slidenum">
              <a:rPr lang="en-US" smtClean="0"/>
              <a:t>12</a:t>
            </a:fld>
            <a:endParaRPr lang="en-US"/>
          </a:p>
        </p:txBody>
      </p:sp>
    </p:spTree>
    <p:extLst>
      <p:ext uri="{BB962C8B-B14F-4D97-AF65-F5344CB8AC3E}">
        <p14:creationId xmlns:p14="http://schemas.microsoft.com/office/powerpoint/2010/main" val="344365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6BB12EE-BDAC-A3A9-1AAF-6B8795474D62}"/>
              </a:ext>
            </a:extLst>
          </p:cNvPr>
          <p:cNvSpPr>
            <a:spLocks noGrp="1"/>
          </p:cNvSpPr>
          <p:nvPr>
            <p:ph idx="1"/>
          </p:nvPr>
        </p:nvSpPr>
        <p:spPr>
          <a:xfrm>
            <a:off x="743309" y="1253331"/>
            <a:ext cx="10515600" cy="4351338"/>
          </a:xfrm>
        </p:spPr>
        <p:txBody>
          <a:bodyPr>
            <a:normAutofit/>
          </a:bodyPr>
          <a:lstStyle/>
          <a:p>
            <a:pPr>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CO4: </a:t>
            </a:r>
          </a:p>
          <a:p>
            <a:pPr>
              <a:lnSpc>
                <a:spcPct val="150000"/>
              </a:lnSpc>
            </a:pPr>
            <a:r>
              <a:rPr lang="en-US" sz="1900" dirty="0">
                <a:latin typeface="Times New Roman" panose="02020603050405020304" pitchFamily="18" charset="0"/>
                <a:cs typeface="Times New Roman" panose="02020603050405020304" pitchFamily="18" charset="0"/>
              </a:rPr>
              <a:t>Hashing is used for fast data retrieval like searching users or login verification. </a:t>
            </a:r>
          </a:p>
          <a:p>
            <a:pPr>
              <a:lnSpc>
                <a:spcPct val="150000"/>
              </a:lnSpc>
            </a:pPr>
            <a:r>
              <a:rPr lang="en-US" sz="1900" dirty="0">
                <a:latin typeface="Times New Roman" panose="02020603050405020304" pitchFamily="18" charset="0"/>
                <a:cs typeface="Times New Roman" panose="02020603050405020304" pitchFamily="18" charset="0"/>
              </a:rPr>
              <a:t>Priority queues and heaps help rank or prioritize important data such as trending opportunities</a:t>
            </a:r>
          </a:p>
          <a:p>
            <a:pPr>
              <a:lnSpc>
                <a:spcPct val="150000"/>
              </a:lnSpc>
              <a:buFont typeface="Wingdings" panose="05000000000000000000" pitchFamily="2" charset="2"/>
              <a:buChar char="Ø"/>
            </a:pPr>
            <a:r>
              <a:rPr lang="en-US" sz="1900" b="1" dirty="0">
                <a:latin typeface="Times New Roman" panose="02020603050405020304" pitchFamily="18" charset="0"/>
                <a:cs typeface="Times New Roman" panose="02020603050405020304" pitchFamily="18" charset="0"/>
              </a:rPr>
              <a:t>CO5:</a:t>
            </a:r>
          </a:p>
          <a:p>
            <a:pPr>
              <a:lnSpc>
                <a:spcPct val="150000"/>
              </a:lnSpc>
            </a:pPr>
            <a:r>
              <a:rPr lang="en-US" sz="1900" dirty="0">
                <a:latin typeface="Times New Roman" panose="02020603050405020304" pitchFamily="18" charset="0"/>
                <a:cs typeface="Times New Roman" panose="02020603050405020304" pitchFamily="18" charset="0"/>
              </a:rPr>
              <a:t> Efficient data structures are used to improve overall system performance and scalability of the website. </a:t>
            </a:r>
          </a:p>
          <a:p>
            <a:pPr>
              <a:lnSpc>
                <a:spcPct val="150000"/>
              </a:lnSpc>
            </a:pPr>
            <a:r>
              <a:rPr lang="en-US" sz="1900" dirty="0">
                <a:latin typeface="Times New Roman" panose="02020603050405020304" pitchFamily="18" charset="0"/>
                <a:cs typeface="Times New Roman" panose="02020603050405020304" pitchFamily="18" charset="0"/>
              </a:rPr>
              <a:t>Advanced techniques help in optimizing data storage and improving response time for user requests.</a:t>
            </a:r>
          </a:p>
          <a:p>
            <a:endParaRPr lang="en-IN" dirty="0"/>
          </a:p>
        </p:txBody>
      </p:sp>
      <p:sp>
        <p:nvSpPr>
          <p:cNvPr id="4" name="Date Placeholder 3">
            <a:extLst>
              <a:ext uri="{FF2B5EF4-FFF2-40B4-BE49-F238E27FC236}">
                <a16:creationId xmlns:a16="http://schemas.microsoft.com/office/drawing/2014/main" id="{0A51FDC1-B63A-4423-1371-359F9859AAAC}"/>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90346460-F4F1-A6A7-CD4D-811E09D579D5}"/>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43B16C70-0465-C13C-A1EA-88FB40C5F868}"/>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15613814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23D68-D41B-9825-3931-B79590C795F8}"/>
              </a:ext>
            </a:extLst>
          </p:cNvPr>
          <p:cNvSpPr>
            <a:spLocks noGrp="1"/>
          </p:cNvSpPr>
          <p:nvPr>
            <p:ph type="title"/>
          </p:nvPr>
        </p:nvSpPr>
        <p:spPr>
          <a:xfrm>
            <a:off x="1407543" y="350688"/>
            <a:ext cx="10515600" cy="1325563"/>
          </a:xfrm>
        </p:spPr>
        <p:txBody>
          <a:bodyPr/>
          <a:lstStyle/>
          <a:p>
            <a:r>
              <a:rPr lang="en-US" dirty="0"/>
              <a:t>Screenshots for FWD &amp; DSA</a:t>
            </a:r>
          </a:p>
        </p:txBody>
      </p:sp>
      <p:sp>
        <p:nvSpPr>
          <p:cNvPr id="4" name="Date Placeholder 3">
            <a:extLst>
              <a:ext uri="{FF2B5EF4-FFF2-40B4-BE49-F238E27FC236}">
                <a16:creationId xmlns:a16="http://schemas.microsoft.com/office/drawing/2014/main" id="{F1963D1B-E2DB-29C3-BA63-FF21B16E3D52}"/>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49114CB5-AB44-10F9-E8AF-4658C65956F4}"/>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198D5113-7B1F-AF02-CDA9-5B3AB95BE716}"/>
              </a:ext>
            </a:extLst>
          </p:cNvPr>
          <p:cNvSpPr>
            <a:spLocks noGrp="1"/>
          </p:cNvSpPr>
          <p:nvPr>
            <p:ph type="sldNum" sz="quarter" idx="12"/>
          </p:nvPr>
        </p:nvSpPr>
        <p:spPr/>
        <p:txBody>
          <a:bodyPr/>
          <a:lstStyle/>
          <a:p>
            <a:fld id="{B961B71F-4B40-8942-BB88-E0F5C0B46E10}" type="slidenum">
              <a:rPr lang="en-US" smtClean="0"/>
              <a:t>14</a:t>
            </a:fld>
            <a:endParaRPr lang="en-US"/>
          </a:p>
        </p:txBody>
      </p:sp>
      <p:pic>
        <p:nvPicPr>
          <p:cNvPr id="12" name="Content Placeholder 11">
            <a:extLst>
              <a:ext uri="{FF2B5EF4-FFF2-40B4-BE49-F238E27FC236}">
                <a16:creationId xmlns:a16="http://schemas.microsoft.com/office/drawing/2014/main" id="{377B7BAC-6066-4C14-7EC1-F05D493C0654}"/>
              </a:ext>
            </a:extLst>
          </p:cNvPr>
          <p:cNvPicPr>
            <a:picLocks noGrp="1" noChangeAspect="1"/>
          </p:cNvPicPr>
          <p:nvPr>
            <p:ph idx="1"/>
          </p:nvPr>
        </p:nvPicPr>
        <p:blipFill>
          <a:blip r:embed="rId2"/>
          <a:stretch>
            <a:fillRect/>
          </a:stretch>
        </p:blipFill>
        <p:spPr>
          <a:xfrm>
            <a:off x="375096" y="1595887"/>
            <a:ext cx="5844549" cy="4597879"/>
          </a:xfrm>
          <a:prstGeom prst="rect">
            <a:avLst/>
          </a:prstGeom>
        </p:spPr>
      </p:pic>
      <p:pic>
        <p:nvPicPr>
          <p:cNvPr id="14" name="Picture 13">
            <a:extLst>
              <a:ext uri="{FF2B5EF4-FFF2-40B4-BE49-F238E27FC236}">
                <a16:creationId xmlns:a16="http://schemas.microsoft.com/office/drawing/2014/main" id="{7340B245-175B-9653-9E1D-5687624ADB4C}"/>
              </a:ext>
            </a:extLst>
          </p:cNvPr>
          <p:cNvPicPr>
            <a:picLocks noChangeAspect="1"/>
          </p:cNvPicPr>
          <p:nvPr/>
        </p:nvPicPr>
        <p:blipFill>
          <a:blip r:embed="rId3"/>
          <a:stretch>
            <a:fillRect/>
          </a:stretch>
        </p:blipFill>
        <p:spPr>
          <a:xfrm>
            <a:off x="6219645" y="1595887"/>
            <a:ext cx="5612409" cy="4597879"/>
          </a:xfrm>
          <a:prstGeom prst="rect">
            <a:avLst/>
          </a:prstGeom>
        </p:spPr>
      </p:pic>
    </p:spTree>
    <p:extLst>
      <p:ext uri="{BB962C8B-B14F-4D97-AF65-F5344CB8AC3E}">
        <p14:creationId xmlns:p14="http://schemas.microsoft.com/office/powerpoint/2010/main" val="34319537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9D9DA-1011-0C7F-263C-A47D99DB48C5}"/>
              </a:ext>
            </a:extLst>
          </p:cNvPr>
          <p:cNvSpPr>
            <a:spLocks noGrp="1"/>
          </p:cNvSpPr>
          <p:nvPr>
            <p:ph type="title"/>
          </p:nvPr>
        </p:nvSpPr>
        <p:spPr/>
        <p:txBody>
          <a:bodyPr/>
          <a:lstStyle/>
          <a:p>
            <a:endParaRPr lang="en-IN"/>
          </a:p>
        </p:txBody>
      </p:sp>
      <p:pic>
        <p:nvPicPr>
          <p:cNvPr id="8" name="Content Placeholder 7">
            <a:extLst>
              <a:ext uri="{FF2B5EF4-FFF2-40B4-BE49-F238E27FC236}">
                <a16:creationId xmlns:a16="http://schemas.microsoft.com/office/drawing/2014/main" id="{AB589A77-9AAF-5554-20C6-285D8776502B}"/>
              </a:ext>
            </a:extLst>
          </p:cNvPr>
          <p:cNvPicPr>
            <a:picLocks noGrp="1" noChangeAspect="1"/>
          </p:cNvPicPr>
          <p:nvPr>
            <p:ph idx="1"/>
          </p:nvPr>
        </p:nvPicPr>
        <p:blipFill>
          <a:blip r:embed="rId2"/>
          <a:stretch>
            <a:fillRect/>
          </a:stretch>
        </p:blipFill>
        <p:spPr>
          <a:xfrm>
            <a:off x="1" y="1849437"/>
            <a:ext cx="6096000" cy="4192888"/>
          </a:xfrm>
          <a:prstGeom prst="rect">
            <a:avLst/>
          </a:prstGeom>
        </p:spPr>
      </p:pic>
      <p:sp>
        <p:nvSpPr>
          <p:cNvPr id="4" name="Date Placeholder 3">
            <a:extLst>
              <a:ext uri="{FF2B5EF4-FFF2-40B4-BE49-F238E27FC236}">
                <a16:creationId xmlns:a16="http://schemas.microsoft.com/office/drawing/2014/main" id="{DC108BD1-B9BE-0599-511A-FE27C1F5D99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0A6746B6-C7FC-81ED-25FC-39146EE4FFB6}"/>
              </a:ext>
            </a:extLst>
          </p:cNvPr>
          <p:cNvSpPr>
            <a:spLocks noGrp="1"/>
          </p:cNvSpPr>
          <p:nvPr>
            <p:ph type="ftr" sz="quarter" idx="11"/>
          </p:nvPr>
        </p:nvSpPr>
        <p:spPr/>
        <p:txBody>
          <a:bodyPr/>
          <a:lstStyle/>
          <a:p>
            <a:r>
              <a:rPr lang="en-US"/>
              <a:t>0th REVIEW         173030211           Department of CSE</a:t>
            </a:r>
          </a:p>
        </p:txBody>
      </p:sp>
      <p:sp>
        <p:nvSpPr>
          <p:cNvPr id="6" name="Slide Number Placeholder 5">
            <a:extLst>
              <a:ext uri="{FF2B5EF4-FFF2-40B4-BE49-F238E27FC236}">
                <a16:creationId xmlns:a16="http://schemas.microsoft.com/office/drawing/2014/main" id="{BD5B3445-232B-83BF-80D8-392D3DDC6783}"/>
              </a:ext>
            </a:extLst>
          </p:cNvPr>
          <p:cNvSpPr>
            <a:spLocks noGrp="1"/>
          </p:cNvSpPr>
          <p:nvPr>
            <p:ph type="sldNum" sz="quarter" idx="12"/>
          </p:nvPr>
        </p:nvSpPr>
        <p:spPr/>
        <p:txBody>
          <a:bodyPr/>
          <a:lstStyle/>
          <a:p>
            <a:fld id="{B961B71F-4B40-8942-BB88-E0F5C0B46E10}" type="slidenum">
              <a:rPr lang="en-US" smtClean="0"/>
              <a:t>15</a:t>
            </a:fld>
            <a:endParaRPr lang="en-US"/>
          </a:p>
        </p:txBody>
      </p:sp>
      <p:pic>
        <p:nvPicPr>
          <p:cNvPr id="10" name="Picture 9">
            <a:extLst>
              <a:ext uri="{FF2B5EF4-FFF2-40B4-BE49-F238E27FC236}">
                <a16:creationId xmlns:a16="http://schemas.microsoft.com/office/drawing/2014/main" id="{1AE1824E-D140-7E11-01C3-354CAF464E33}"/>
              </a:ext>
            </a:extLst>
          </p:cNvPr>
          <p:cNvPicPr>
            <a:picLocks noChangeAspect="1"/>
          </p:cNvPicPr>
          <p:nvPr/>
        </p:nvPicPr>
        <p:blipFill>
          <a:blip r:embed="rId3"/>
          <a:stretch>
            <a:fillRect/>
          </a:stretch>
        </p:blipFill>
        <p:spPr>
          <a:xfrm>
            <a:off x="6095999" y="1849436"/>
            <a:ext cx="6095999" cy="4192889"/>
          </a:xfrm>
          <a:prstGeom prst="rect">
            <a:avLst/>
          </a:prstGeom>
        </p:spPr>
      </p:pic>
    </p:spTree>
    <p:extLst>
      <p:ext uri="{BB962C8B-B14F-4D97-AF65-F5344CB8AC3E}">
        <p14:creationId xmlns:p14="http://schemas.microsoft.com/office/powerpoint/2010/main" val="3145056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3A63-E30E-0694-B089-838C7E389AF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8F526A-5F54-0308-7336-A6E081606439}"/>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a:t>
            </a:r>
          </a:p>
        </p:txBody>
      </p:sp>
      <p:sp>
        <p:nvSpPr>
          <p:cNvPr id="9" name="Content Placeholder 8">
            <a:extLst>
              <a:ext uri="{FF2B5EF4-FFF2-40B4-BE49-F238E27FC236}">
                <a16:creationId xmlns:a16="http://schemas.microsoft.com/office/drawing/2014/main" id="{956E9376-CB4B-895B-7B5C-D2F5AAED7494}"/>
              </a:ext>
            </a:extLst>
          </p:cNvPr>
          <p:cNvSpPr>
            <a:spLocks noGrp="1"/>
          </p:cNvSpPr>
          <p:nvPr>
            <p:ph idx="1"/>
          </p:nvPr>
        </p:nvSpPr>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The Career Build on Smart Connections platform helps students and young professionals build meaningful professional relationships.</a:t>
            </a:r>
          </a:p>
          <a:p>
            <a:r>
              <a:rPr lang="en-US" dirty="0">
                <a:latin typeface="Times New Roman" panose="02020603050405020304" pitchFamily="18" charset="0"/>
                <a:cs typeface="Times New Roman" panose="02020603050405020304" pitchFamily="18" charset="0"/>
              </a:rPr>
              <a:t>It provides a centralized space to explore internships, job opportunities, and career guidance.</a:t>
            </a:r>
          </a:p>
          <a:p>
            <a:r>
              <a:rPr lang="en-US" dirty="0">
                <a:latin typeface="Times New Roman" panose="02020603050405020304" pitchFamily="18" charset="0"/>
                <a:cs typeface="Times New Roman" panose="02020603050405020304" pitchFamily="18" charset="0"/>
              </a:rPr>
              <a:t>The platform encourages networking and mentorship between students and experienced professionals.</a:t>
            </a:r>
          </a:p>
          <a:p>
            <a:r>
              <a:rPr lang="en-US" dirty="0">
                <a:latin typeface="Times New Roman" panose="02020603050405020304" pitchFamily="18" charset="0"/>
                <a:cs typeface="Times New Roman" panose="02020603050405020304" pitchFamily="18" charset="0"/>
              </a:rPr>
              <a:t>It organizes career-related information in a clear and accessible way, making it easier for users to find relevant opportunities.</a:t>
            </a:r>
          </a:p>
          <a:p>
            <a:r>
              <a:rPr lang="en-US" dirty="0">
                <a:latin typeface="Times New Roman" panose="02020603050405020304" pitchFamily="18" charset="0"/>
                <a:cs typeface="Times New Roman" panose="02020603050405020304" pitchFamily="18" charset="0"/>
              </a:rPr>
              <a:t>By connecting individuals and promoting knowledge sharing, the system supports personal and professional growth.</a:t>
            </a:r>
          </a:p>
          <a:p>
            <a:r>
              <a:rPr lang="en-US" dirty="0">
                <a:latin typeface="Times New Roman" panose="02020603050405020304" pitchFamily="18" charset="0"/>
                <a:cs typeface="Times New Roman" panose="02020603050405020304" pitchFamily="18" charset="0"/>
              </a:rPr>
              <a:t>Overall, the platform aims to help users make informed career decisions and build a strong foundation for their future. </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82A84C9A-73D1-DA76-6E0C-91C24CB8321A}"/>
              </a:ext>
            </a:extLst>
          </p:cNvPr>
          <p:cNvSpPr>
            <a:spLocks noGrp="1"/>
          </p:cNvSpPr>
          <p:nvPr>
            <p:ph type="dt" sz="half" idx="10"/>
          </p:nvPr>
        </p:nvSpPr>
        <p:spPr/>
        <p:txBody>
          <a:bodyPr/>
          <a:lstStyle/>
          <a:p>
            <a:fld id="{20A639D7-EAE1-7C4A-AC63-30DD6B16DE20}" type="datetime1">
              <a:rPr lang="en-IN" smtClean="0"/>
              <a:t>10-03-2026</a:t>
            </a:fld>
            <a:endParaRPr lang="en-US"/>
          </a:p>
        </p:txBody>
      </p:sp>
      <p:sp>
        <p:nvSpPr>
          <p:cNvPr id="6" name="Footer Placeholder 5">
            <a:extLst>
              <a:ext uri="{FF2B5EF4-FFF2-40B4-BE49-F238E27FC236}">
                <a16:creationId xmlns:a16="http://schemas.microsoft.com/office/drawing/2014/main" id="{CB81726C-C351-8876-43C7-C9B8807EA560}"/>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36E4E02D-0287-0F0D-A891-AE869E4F0992}"/>
              </a:ext>
            </a:extLst>
          </p:cNvPr>
          <p:cNvSpPr>
            <a:spLocks noGrp="1"/>
          </p:cNvSpPr>
          <p:nvPr>
            <p:ph type="sldNum" sz="quarter" idx="12"/>
          </p:nvPr>
        </p:nvSpPr>
        <p:spPr/>
        <p:txBody>
          <a:bodyPr/>
          <a:lstStyle/>
          <a:p>
            <a:fld id="{B961B71F-4B40-8942-BB88-E0F5C0B46E10}" type="slidenum">
              <a:rPr lang="en-US" smtClean="0"/>
              <a:t>16</a:t>
            </a:fld>
            <a:endParaRPr lang="en-US"/>
          </a:p>
        </p:txBody>
      </p:sp>
    </p:spTree>
    <p:extLst>
      <p:ext uri="{BB962C8B-B14F-4D97-AF65-F5344CB8AC3E}">
        <p14:creationId xmlns:p14="http://schemas.microsoft.com/office/powerpoint/2010/main" val="28589121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48258-F0F3-1EE4-1AB3-DB04AD69EB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961B8-8709-0718-F6D3-9D07622F76AF}"/>
              </a:ext>
            </a:extLst>
          </p:cNvPr>
          <p:cNvSpPr>
            <a:spLocks noGrp="1"/>
          </p:cNvSpPr>
          <p:nvPr>
            <p:ph type="title"/>
          </p:nvPr>
        </p:nvSpPr>
        <p:spPr/>
        <p:txBody>
          <a:bodyPr/>
          <a:lstStyle/>
          <a:p>
            <a:pPr algn="ctr"/>
            <a:r>
              <a:rPr lang="en-US" b="1" dirty="0"/>
              <a:t>Geo- Tag Photos</a:t>
            </a:r>
          </a:p>
        </p:txBody>
      </p:sp>
      <p:pic>
        <p:nvPicPr>
          <p:cNvPr id="8" name="Content Placeholder 7">
            <a:extLst>
              <a:ext uri="{FF2B5EF4-FFF2-40B4-BE49-F238E27FC236}">
                <a16:creationId xmlns:a16="http://schemas.microsoft.com/office/drawing/2014/main" id="{D01324EF-A42F-3C92-F220-00C3636C1CF6}"/>
              </a:ext>
            </a:extLst>
          </p:cNvPr>
          <p:cNvPicPr>
            <a:picLocks noGrp="1" noChangeAspect="1"/>
          </p:cNvPicPr>
          <p:nvPr>
            <p:ph idx="1"/>
          </p:nvPr>
        </p:nvPicPr>
        <p:blipFill>
          <a:blip r:embed="rId2"/>
          <a:stretch>
            <a:fillRect/>
          </a:stretch>
        </p:blipFill>
        <p:spPr>
          <a:xfrm>
            <a:off x="56528" y="1756614"/>
            <a:ext cx="5782508" cy="4351338"/>
          </a:xfrm>
          <a:prstGeom prst="rect">
            <a:avLst/>
          </a:prstGeom>
        </p:spPr>
      </p:pic>
      <p:sp>
        <p:nvSpPr>
          <p:cNvPr id="4" name="Date Placeholder 3">
            <a:extLst>
              <a:ext uri="{FF2B5EF4-FFF2-40B4-BE49-F238E27FC236}">
                <a16:creationId xmlns:a16="http://schemas.microsoft.com/office/drawing/2014/main" id="{5B18EAAE-4073-261B-4850-9857C07DBAF0}"/>
              </a:ext>
            </a:extLst>
          </p:cNvPr>
          <p:cNvSpPr>
            <a:spLocks noGrp="1"/>
          </p:cNvSpPr>
          <p:nvPr>
            <p:ph type="dt" sz="half" idx="10"/>
          </p:nvPr>
        </p:nvSpPr>
        <p:spPr/>
        <p:txBody>
          <a:bodyPr/>
          <a:lstStyle/>
          <a:p>
            <a:fld id="{9C5272DB-0103-AF4C-A22D-07421EC406AD}" type="datetime1">
              <a:rPr lang="en-IN" smtClean="0"/>
              <a:t>10-03-2026</a:t>
            </a:fld>
            <a:endParaRPr lang="en-US"/>
          </a:p>
        </p:txBody>
      </p:sp>
      <p:sp>
        <p:nvSpPr>
          <p:cNvPr id="5" name="Footer Placeholder 4">
            <a:extLst>
              <a:ext uri="{FF2B5EF4-FFF2-40B4-BE49-F238E27FC236}">
                <a16:creationId xmlns:a16="http://schemas.microsoft.com/office/drawing/2014/main" id="{A3CA2172-0EFE-3ADA-47FA-029EF21AB5B8}"/>
              </a:ext>
            </a:extLst>
          </p:cNvPr>
          <p:cNvSpPr>
            <a:spLocks noGrp="1"/>
          </p:cNvSpPr>
          <p:nvPr>
            <p:ph type="ftr" sz="quarter" idx="11"/>
          </p:nvPr>
        </p:nvSpPr>
        <p:spPr/>
        <p:txBody>
          <a:bodyPr/>
          <a:lstStyle/>
          <a:p>
            <a:r>
              <a:rPr lang="en-US" dirty="0"/>
              <a:t>173030211           Department of CSE</a:t>
            </a:r>
          </a:p>
        </p:txBody>
      </p:sp>
      <p:sp>
        <p:nvSpPr>
          <p:cNvPr id="6" name="Slide Number Placeholder 5">
            <a:extLst>
              <a:ext uri="{FF2B5EF4-FFF2-40B4-BE49-F238E27FC236}">
                <a16:creationId xmlns:a16="http://schemas.microsoft.com/office/drawing/2014/main" id="{C3E9B8A7-6131-D012-7DA4-A9F36B2B1525}"/>
              </a:ext>
            </a:extLst>
          </p:cNvPr>
          <p:cNvSpPr>
            <a:spLocks noGrp="1"/>
          </p:cNvSpPr>
          <p:nvPr>
            <p:ph type="sldNum" sz="quarter" idx="12"/>
          </p:nvPr>
        </p:nvSpPr>
        <p:spPr/>
        <p:txBody>
          <a:bodyPr/>
          <a:lstStyle/>
          <a:p>
            <a:fld id="{B961B71F-4B40-8942-BB88-E0F5C0B46E10}" type="slidenum">
              <a:rPr lang="en-US" smtClean="0"/>
              <a:t>17</a:t>
            </a:fld>
            <a:endParaRPr lang="en-US"/>
          </a:p>
        </p:txBody>
      </p:sp>
      <p:pic>
        <p:nvPicPr>
          <p:cNvPr id="10" name="Picture 9">
            <a:extLst>
              <a:ext uri="{FF2B5EF4-FFF2-40B4-BE49-F238E27FC236}">
                <a16:creationId xmlns:a16="http://schemas.microsoft.com/office/drawing/2014/main" id="{8FD24551-FECE-58DF-3F66-9D477EB36BD5}"/>
              </a:ext>
            </a:extLst>
          </p:cNvPr>
          <p:cNvPicPr>
            <a:picLocks noChangeAspect="1"/>
          </p:cNvPicPr>
          <p:nvPr/>
        </p:nvPicPr>
        <p:blipFill>
          <a:blip r:embed="rId3"/>
          <a:stretch>
            <a:fillRect/>
          </a:stretch>
        </p:blipFill>
        <p:spPr>
          <a:xfrm>
            <a:off x="5943766" y="1756614"/>
            <a:ext cx="6191706" cy="4351338"/>
          </a:xfrm>
          <a:prstGeom prst="rect">
            <a:avLst/>
          </a:prstGeom>
        </p:spPr>
      </p:pic>
    </p:spTree>
    <p:extLst>
      <p:ext uri="{BB962C8B-B14F-4D97-AF65-F5344CB8AC3E}">
        <p14:creationId xmlns:p14="http://schemas.microsoft.com/office/powerpoint/2010/main" val="2357471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AD6276-EBF6-BB4A-A6C6-114A8D55B891}" type="datetime1">
              <a:rPr lang="en-IN" smtClean="0"/>
              <a:t>10-03-2026</a:t>
            </a:fld>
            <a:endParaRPr lang="en-US"/>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dirty="0"/>
              <a:t>173030211           Department of CSE</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18</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3900</TotalTime>
  <Words>1292</Words>
  <Application>Microsoft Office PowerPoint</Application>
  <PresentationFormat>Widescreen</PresentationFormat>
  <Paragraphs>165</Paragraphs>
  <Slides>18</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18</vt:i4>
      </vt:variant>
    </vt:vector>
  </HeadingPairs>
  <TitlesOfParts>
    <vt:vector size="25" baseType="lpstr">
      <vt:lpstr>Arial</vt:lpstr>
      <vt:lpstr>Calibri</vt:lpstr>
      <vt:lpstr>Calibri Light</vt:lpstr>
      <vt:lpstr>Times New Roman</vt:lpstr>
      <vt:lpstr>Wingdings</vt:lpstr>
      <vt:lpstr>Office Theme</vt:lpstr>
      <vt:lpstr>Custom Design</vt:lpstr>
      <vt:lpstr>INSTRUCTIONS</vt:lpstr>
      <vt:lpstr>Title:CAREERS BUILT ON SMART CONNECTIONS</vt:lpstr>
      <vt:lpstr>OUTLINE</vt:lpstr>
      <vt:lpstr>Abstract</vt:lpstr>
      <vt:lpstr>Existing System </vt:lpstr>
      <vt:lpstr>Proposed System</vt:lpstr>
      <vt:lpstr>System Architecture</vt:lpstr>
      <vt:lpstr>Project Modules</vt:lpstr>
      <vt:lpstr>Objectives</vt:lpstr>
      <vt:lpstr>CO’s ATTAINMENT-FWD</vt:lpstr>
      <vt:lpstr>PowerPoint Presentation</vt:lpstr>
      <vt:lpstr>CO’s ATTAINMENT-DSA</vt:lpstr>
      <vt:lpstr>PowerPoint Presentation</vt:lpstr>
      <vt:lpstr>Screenshots for FWD &amp; DSA</vt:lpstr>
      <vt:lpstr>PowerPoint Presentation</vt:lpstr>
      <vt:lpstr>Conclusion</vt:lpstr>
      <vt:lpstr>Geo- Tag Photos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Geethika Chowdary</cp:lastModifiedBy>
  <cp:revision>55</cp:revision>
  <dcterms:created xsi:type="dcterms:W3CDTF">2022-05-20T10:20:31Z</dcterms:created>
  <dcterms:modified xsi:type="dcterms:W3CDTF">2026-03-10T04:36:03Z</dcterms:modified>
</cp:coreProperties>
</file>